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16DBE9-DF35-4D46-92EB-9546D35C91DD}">
  <a:tblStyle styleId="{D816DBE9-DF35-4D46-92EB-9546D35C91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22" Type="http://schemas.openxmlformats.org/officeDocument/2006/relationships/font" Target="fonts/MavenPro-regular.fntdata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5dcff09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5dcff09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5de4903f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5de4903f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5de4903f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5de4903f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a3198eb6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a3198eb6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a3198eb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a3198eb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5de4903f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5de4903f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5de4903ff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e5de4903ff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5de4903ff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5de4903ff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4bba21dd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4bba21dd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5de4903ff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e5de4903ff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nadyinky/sephora-products-and-skincare-review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30675" y="6988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Analiza Sephora proizvoda i njihovih recenzija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730675" y="28032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Marija Todorović IN 13/2022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Nenad Lukić IN 17/2022</a:t>
            </a:r>
            <a:endParaRPr/>
          </a:p>
        </p:txBody>
      </p:sp>
      <p:pic>
        <p:nvPicPr>
          <p:cNvPr id="279" name="Google Shape;279;p13" title="dataset-cover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100" y="2642900"/>
            <a:ext cx="4395950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32682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Skup podataka</a:t>
            </a:r>
            <a:endParaRPr/>
          </a:p>
        </p:txBody>
      </p:sp>
      <p:sp>
        <p:nvSpPr>
          <p:cNvPr id="285" name="Google Shape;285;p14"/>
          <p:cNvSpPr txBox="1"/>
          <p:nvPr>
            <p:ph idx="2" type="body"/>
          </p:nvPr>
        </p:nvSpPr>
        <p:spPr>
          <a:xfrm>
            <a:off x="4641975" y="1074900"/>
            <a:ext cx="3956100" cy="29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sr">
                <a:solidFill>
                  <a:srgbClr val="000000"/>
                </a:solidFill>
              </a:rPr>
              <a:t>Datoteke: 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>
                <a:solidFill>
                  <a:srgbClr val="000000"/>
                </a:solidFill>
              </a:rPr>
              <a:t>Postoji 6 datoteka grupisanih na 2 kategorije: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sr">
                <a:solidFill>
                  <a:srgbClr val="000000"/>
                </a:solidFill>
              </a:rPr>
              <a:t>Prva sadrži informacije o svim kozmetičkim proizvodima iz Sephora onlajn prodavnice, uključujući nazive proizvoda i brendova, cene, sastojke, ocene i sve karakteristike.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sr">
                <a:solidFill>
                  <a:srgbClr val="000000"/>
                </a:solidFill>
              </a:rPr>
              <a:t>Druga sadrži recenzije korisnika (oko 1 milion za više od 2.000 proizvoda) za sve proizvode iz kategorije nege kože (Skincare), uključujući fizičke karakteristike korisnika i ocene tih recenzija od strane drugih korisnika.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1303800" y="1196450"/>
            <a:ext cx="3146700" cy="20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300">
                <a:latin typeface="Nunito"/>
                <a:ea typeface="Nunito"/>
                <a:cs typeface="Nunito"/>
                <a:sym typeface="Nunito"/>
              </a:rPr>
              <a:t>Tema:</a:t>
            </a:r>
            <a:r>
              <a:rPr lang="sr" sz="1300">
                <a:latin typeface="Nunito"/>
                <a:ea typeface="Nunito"/>
                <a:cs typeface="Nunito"/>
                <a:sym typeface="Nunito"/>
              </a:rPr>
              <a:t> 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300">
                <a:latin typeface="Nunito"/>
                <a:ea typeface="Nunito"/>
                <a:cs typeface="Nunito"/>
                <a:sym typeface="Nunito"/>
              </a:rPr>
              <a:t>Analiza kozmetičkih proizvoda i ponašanja korisnika na Sephora platformi kroz napredne MongoDB upite za optimizaciju tržišnih trendova i personalizaciju preporuka. 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60650" y="4296725"/>
            <a:ext cx="67179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Link ka skupu podataka: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sr" sz="1300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https://www.kaggle.com/datasets/nadyinky/sephora-products-and-skincare-reviews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303800" y="598575"/>
            <a:ext cx="34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Skup podataka</a:t>
            </a:r>
            <a:endParaRPr/>
          </a:p>
        </p:txBody>
      </p:sp>
      <p:sp>
        <p:nvSpPr>
          <p:cNvPr id="293" name="Google Shape;293;p15"/>
          <p:cNvSpPr txBox="1"/>
          <p:nvPr>
            <p:ph idx="1" type="subTitle"/>
          </p:nvPr>
        </p:nvSpPr>
        <p:spPr>
          <a:xfrm>
            <a:off x="1303800" y="1252575"/>
            <a:ext cx="7166100" cy="38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300"/>
              <a:t>Broj zapisa:</a:t>
            </a:r>
            <a:r>
              <a:rPr lang="sr" sz="1300"/>
              <a:t> 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sr" sz="1300"/>
              <a:t>8.496 zapisa unutar datoteke product_info.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sr" sz="1300"/>
              <a:t>1.107.415 </a:t>
            </a:r>
            <a:r>
              <a:rPr lang="sr" sz="1300"/>
              <a:t>zapisa kroz svih 5 reviews datoteka.</a:t>
            </a:r>
            <a:endParaRPr sz="13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300"/>
              <a:t>Objašnjene kolone za product_info:</a:t>
            </a:r>
            <a:endParaRPr b="1"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product_id</a:t>
            </a:r>
            <a:r>
              <a:rPr lang="sr" sz="1300"/>
              <a:t>: Jedinstveni identifikator proizvoda sa sajta.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product_name</a:t>
            </a:r>
            <a:r>
              <a:rPr lang="sr" sz="1300"/>
              <a:t>: Pun naziv proizvoda.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brand_id</a:t>
            </a:r>
            <a:r>
              <a:rPr lang="sr" sz="1300"/>
              <a:t>: Jedinstveni identifikator brenda čiji je proizvod.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brand_name</a:t>
            </a:r>
            <a:r>
              <a:rPr lang="sr" sz="1300"/>
              <a:t>: Pun naziv brenda koji je napravio proizvod.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loves_count</a:t>
            </a:r>
            <a:r>
              <a:rPr lang="sr" sz="1300"/>
              <a:t>: Broj ljudi koji su označili ovaj proizvod kao omiljeni.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rating</a:t>
            </a:r>
            <a:r>
              <a:rPr lang="sr" sz="1300"/>
              <a:t>: Prosečna ocena proizvoda zasnovana na korisničkim recenzijama.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reviews</a:t>
            </a:r>
            <a:r>
              <a:rPr lang="sr" sz="1300"/>
              <a:t>: Broj recenzija korisnika za sam proizvod.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size</a:t>
            </a:r>
            <a:r>
              <a:rPr lang="sr" sz="1300"/>
              <a:t>: Veličina proizvoda, može biti zapisano u više metričkih jedinica, u zavisnosti od tipa proizvoda.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variation_type</a:t>
            </a:r>
            <a:r>
              <a:rPr lang="sr" sz="1300"/>
              <a:t>: Tip parametra varijacije za proizvod (npr. </a:t>
            </a:r>
            <a:r>
              <a:rPr i="1" lang="sr" sz="1300"/>
              <a:t>Size</a:t>
            </a:r>
            <a:r>
              <a:rPr lang="sr" sz="1300"/>
              <a:t>, </a:t>
            </a:r>
            <a:r>
              <a:rPr i="1" lang="sr" sz="1300"/>
              <a:t>Color</a:t>
            </a:r>
            <a:r>
              <a:rPr lang="sr" sz="1300"/>
              <a:t>).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variation_value</a:t>
            </a:r>
            <a:r>
              <a:rPr lang="sr" sz="1300"/>
              <a:t>: Specifična vrednost parametra varijacije proizvoda (npr. </a:t>
            </a:r>
            <a:r>
              <a:rPr i="1" lang="sr" sz="1300"/>
              <a:t>100 mL</a:t>
            </a:r>
            <a:r>
              <a:rPr lang="sr" sz="1300"/>
              <a:t>, </a:t>
            </a:r>
            <a:r>
              <a:rPr i="1" lang="sr" sz="1300"/>
              <a:t>Golden Sand</a:t>
            </a:r>
            <a:r>
              <a:rPr lang="sr" sz="1300"/>
              <a:t>).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variation_desc</a:t>
            </a:r>
            <a:r>
              <a:rPr lang="sr" sz="1300"/>
              <a:t>: Opis parametra varijacije (npr. </a:t>
            </a:r>
            <a:r>
              <a:rPr i="1" lang="sr" sz="1300"/>
              <a:t>tone for fairest skin</a:t>
            </a:r>
            <a:r>
              <a:rPr lang="sr" sz="1300"/>
              <a:t>).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price_usd</a:t>
            </a:r>
            <a:r>
              <a:rPr lang="sr" sz="1300"/>
              <a:t>: Cena proizvoda u američkim dolarima.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34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Skup podataka</a:t>
            </a:r>
            <a:endParaRPr/>
          </a:p>
        </p:txBody>
      </p:sp>
      <p:sp>
        <p:nvSpPr>
          <p:cNvPr id="299" name="Google Shape;299;p16"/>
          <p:cNvSpPr txBox="1"/>
          <p:nvPr>
            <p:ph idx="1" type="subTitle"/>
          </p:nvPr>
        </p:nvSpPr>
        <p:spPr>
          <a:xfrm>
            <a:off x="1303800" y="1252575"/>
            <a:ext cx="7166100" cy="3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300"/>
              <a:t>Objašnjene kolone za product_info:</a:t>
            </a:r>
            <a:endParaRPr b="1"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ingredients</a:t>
            </a:r>
            <a:r>
              <a:rPr lang="sr" sz="1300"/>
              <a:t>: Lista sastojaka koji se nalaze u proizvodu (npr. </a:t>
            </a:r>
            <a:r>
              <a:rPr i="1" lang="sr" sz="1300"/>
              <a:t>[‘Product variation 1:’, ‘Water, Glycerin’, ‘Product variation 2:’, ‘Talc, Mica’] or if no variations [‘Water, Glycerin’]</a:t>
            </a:r>
            <a:r>
              <a:rPr lang="sr" sz="1300"/>
              <a:t>).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value_price_usd</a:t>
            </a:r>
            <a:r>
              <a:rPr lang="sr" sz="1300"/>
              <a:t>: Moguća ušteda po proizvodu, na sajtu prikazana pored regularne cene.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sale_price_usd</a:t>
            </a:r>
            <a:r>
              <a:rPr lang="sr" sz="1300"/>
              <a:t>: Cena tokom rasprodaje proizvoda u američkim dolarima.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limited_edition</a:t>
            </a:r>
            <a:r>
              <a:rPr lang="sr" sz="1300"/>
              <a:t>: </a:t>
            </a:r>
            <a:r>
              <a:rPr i="1" lang="sr" sz="1300"/>
              <a:t>Boolean</a:t>
            </a:r>
            <a:r>
              <a:rPr lang="sr" sz="1300"/>
              <a:t> indikator da li proizvod pripada ograničenoj kolekciji ili ne.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new</a:t>
            </a:r>
            <a:r>
              <a:rPr lang="sr" sz="1300"/>
              <a:t>: </a:t>
            </a:r>
            <a:r>
              <a:rPr i="1" lang="sr" sz="1300"/>
              <a:t>Boolean</a:t>
            </a:r>
            <a:r>
              <a:rPr lang="sr" sz="1300"/>
              <a:t> indikator da li je proizvod nov ili ne.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online_only</a:t>
            </a:r>
            <a:r>
              <a:rPr lang="sr" sz="1300"/>
              <a:t>: </a:t>
            </a:r>
            <a:r>
              <a:rPr i="1" lang="sr" sz="1300"/>
              <a:t>Boolean</a:t>
            </a:r>
            <a:r>
              <a:rPr lang="sr" sz="1300"/>
              <a:t> indikator da li se proizvod prodaje samo onlajn ili ne.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out_of_stock</a:t>
            </a:r>
            <a:r>
              <a:rPr lang="sr" sz="1300"/>
              <a:t>: </a:t>
            </a:r>
            <a:r>
              <a:rPr i="1" lang="sr" sz="1300"/>
              <a:t>Boolean</a:t>
            </a:r>
            <a:r>
              <a:rPr lang="sr" sz="1300"/>
              <a:t> indikator da li je proizvod trenutno nedostupan ili dostupan.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sephora_exclusive</a:t>
            </a:r>
            <a:r>
              <a:rPr lang="sr" sz="1300"/>
              <a:t>: </a:t>
            </a:r>
            <a:r>
              <a:rPr i="1" lang="sr" sz="1300"/>
              <a:t>Boolean</a:t>
            </a:r>
            <a:r>
              <a:rPr lang="sr" sz="1300"/>
              <a:t> indikator da li je proizvod ekskluzivan za Sephora ili ne.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highlights</a:t>
            </a:r>
            <a:r>
              <a:rPr lang="sr" sz="1300"/>
              <a:t>: Lista tagova i osobina koje označavaju atribute (npr. </a:t>
            </a:r>
            <a:r>
              <a:rPr i="1" lang="sr" sz="1300"/>
              <a:t>[‘Vegan’, ‘Matte Finish’]</a:t>
            </a:r>
            <a:r>
              <a:rPr lang="sr" sz="1300"/>
              <a:t>).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primary_category</a:t>
            </a:r>
            <a:r>
              <a:rPr lang="sr" sz="1300"/>
              <a:t>: Prva kategorija navedena u </a:t>
            </a:r>
            <a:r>
              <a:rPr i="1" lang="sr" sz="1300"/>
              <a:t>breadcrumb</a:t>
            </a:r>
            <a:r>
              <a:rPr lang="sr" sz="1300"/>
              <a:t> sekciji.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secondary_category</a:t>
            </a:r>
            <a:r>
              <a:rPr lang="sr" sz="1300"/>
              <a:t>: Druga kategorija navedena u </a:t>
            </a:r>
            <a:r>
              <a:rPr i="1" lang="sr" sz="1300"/>
              <a:t>breadcrumb</a:t>
            </a:r>
            <a:r>
              <a:rPr lang="sr" sz="1300"/>
              <a:t> sekciji.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tertiary_category</a:t>
            </a:r>
            <a:r>
              <a:rPr lang="sr" sz="1300"/>
              <a:t>: Treća kategorija navedena u </a:t>
            </a:r>
            <a:r>
              <a:rPr i="1" lang="sr" sz="1300"/>
              <a:t>breadcrumb</a:t>
            </a:r>
            <a:r>
              <a:rPr lang="sr" sz="1300"/>
              <a:t> sekciji.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child_count</a:t>
            </a:r>
            <a:r>
              <a:rPr lang="sr" sz="1300"/>
              <a:t>: Broj dostupnih varijacija proizvoda.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child_max_price</a:t>
            </a:r>
            <a:r>
              <a:rPr lang="sr" sz="1300"/>
              <a:t>: Najveća cena među varijacijama proizvoda.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/>
              <a:t>child_min_price</a:t>
            </a:r>
            <a:r>
              <a:rPr lang="sr" sz="1300"/>
              <a:t>: Najmanja cena među varijacijama proizvoda.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34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Skup podataka</a:t>
            </a:r>
            <a:endParaRPr/>
          </a:p>
        </p:txBody>
      </p:sp>
      <p:sp>
        <p:nvSpPr>
          <p:cNvPr id="305" name="Google Shape;305;p17"/>
          <p:cNvSpPr txBox="1"/>
          <p:nvPr>
            <p:ph idx="1" type="subTitle"/>
          </p:nvPr>
        </p:nvSpPr>
        <p:spPr>
          <a:xfrm>
            <a:off x="1303800" y="1252575"/>
            <a:ext cx="7166100" cy="3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300"/>
              <a:t>Objašnjene kolone za reviews:</a:t>
            </a:r>
            <a:endParaRPr b="1"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author_id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Jedinstveni identifikator autora koji je ostao recenziju na sajtu.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rating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Ocena koju je korisnik dao proizvodu na skali od 1 do 5.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is_recommended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Boolean 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indikator da li autor preporučuje proizvod ili ne.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helpfulness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Odnos svih pozitivnih i negativnih ocena za recenziju: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helpfulness=total_pos_feedback_count+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total_feedback_count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total_feedback_count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Ukupan broj ocena ostavljenih od strane korisnika za recenziju.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total_neg_feedback_count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Ukupan broj negativnih ocena od strane korisnika za recenziju.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total_pos_feedback_count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Ukupan broj pozitivnih ocena od strane korisnika za recenziju.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submission_time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Datum kad je recenzija postavljena, u “yyyy-mm-dd” formatu.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review_text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Glavni tekst same recenzije.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review_title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Naslov same recenzije.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skin_tone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Ton kože autora recenzije (npr.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fair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,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tan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…).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eye_color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Boja očiju autora recenzije (npr.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brown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,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green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…).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skin_type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Tip kože autora recenzije (npr.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combination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,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oily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…).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hair_color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Boja kose autora recenzije (npr.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brown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,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auburn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…).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product_id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Jedinstveni identifikator proizvoda na sajtu - veza ka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product_id 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u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product_info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3430500" cy="6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Skup podataka</a:t>
            </a:r>
            <a:endParaRPr/>
          </a:p>
        </p:txBody>
      </p:sp>
      <p:sp>
        <p:nvSpPr>
          <p:cNvPr id="311" name="Google Shape;311;p18"/>
          <p:cNvSpPr txBox="1"/>
          <p:nvPr>
            <p:ph idx="1" type="subTitle"/>
          </p:nvPr>
        </p:nvSpPr>
        <p:spPr>
          <a:xfrm>
            <a:off x="1303800" y="1252575"/>
            <a:ext cx="7166100" cy="3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sr" sz="1300"/>
              <a:t>Objašnjene kolone za reviews:</a:t>
            </a:r>
            <a:endParaRPr b="1"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#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Jedinstveni identifikator same recenzije unutar fajla.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product_name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Pun naziv proizvoda - veza ka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product_name 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u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product_info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brand_name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Pun naziv brenda koji je napravio proizvod - veza ka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brand_name 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u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product_info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00"/>
              <a:buChar char="●"/>
            </a:pP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price_usd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: Cena proizvoda u američkim dolarima - veza ka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price_usd 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u </a:t>
            </a:r>
            <a:r>
              <a:rPr i="1" lang="sr" sz="1300">
                <a:solidFill>
                  <a:srgbClr val="202124"/>
                </a:solidFill>
                <a:highlight>
                  <a:srgbClr val="FFFFFF"/>
                </a:highlight>
              </a:rPr>
              <a:t>product_info</a:t>
            </a:r>
            <a:r>
              <a:rPr lang="sr" sz="1300">
                <a:solidFill>
                  <a:srgbClr val="202124"/>
                </a:solidFill>
                <a:highlight>
                  <a:srgbClr val="FFFFFF"/>
                </a:highlight>
              </a:rPr>
              <a:t>.</a:t>
            </a:r>
            <a:endParaRPr sz="13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8402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Primer prostiranja podataka kroz datoteke</a:t>
            </a:r>
            <a:endParaRPr/>
          </a:p>
        </p:txBody>
      </p:sp>
      <p:graphicFrame>
        <p:nvGraphicFramePr>
          <p:cNvPr id="317" name="Google Shape;317;p19"/>
          <p:cNvGraphicFramePr/>
          <p:nvPr/>
        </p:nvGraphicFramePr>
        <p:xfrm>
          <a:off x="0" y="132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</a:tblGrid>
              <a:tr h="381000">
                <a:tc gridSpan="19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1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reviews_&lt;x&gt;-&lt;y&gt;</a:t>
                      </a:r>
                      <a:endParaRPr b="1" i="1"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1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#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author_id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rating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is_recommended</a:t>
                      </a:r>
                      <a:r>
                        <a:rPr i="1" lang="sr" sz="500"/>
                        <a:t> </a:t>
                      </a:r>
                      <a:endParaRPr i="1" sz="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helpfulness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total_feedback_count</a:t>
                      </a:r>
                      <a:r>
                        <a:rPr i="1" lang="sr" sz="500"/>
                        <a:t> </a:t>
                      </a:r>
                      <a:endParaRPr i="1" sz="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total_neg_feedback_count</a:t>
                      </a:r>
                      <a:r>
                        <a:rPr i="1" lang="sr" sz="500"/>
                        <a:t> </a:t>
                      </a:r>
                      <a:endParaRPr i="1" sz="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5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total_pos_feedback_count</a:t>
                      </a:r>
                      <a:r>
                        <a:rPr i="1" lang="sr" sz="500"/>
                        <a:t> </a:t>
                      </a:r>
                      <a:endParaRPr i="1" sz="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submission_time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review_text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review_title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skin_tone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eye_color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skin_type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hair_color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product_id</a:t>
                      </a:r>
                      <a:r>
                        <a:rPr i="1" lang="sr" sz="600"/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</a:rPr>
                        <a:t>product_name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brand_name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price_usd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1945004256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12/10/2022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 absolutly L-O-V-E this oil…</a:t>
                      </a:r>
                      <a:endParaRPr sz="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 must have!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lightMedium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green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combination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lt2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P379064</a:t>
                      </a:r>
                      <a:endParaRPr sz="600">
                        <a:highlight>
                          <a:schemeClr val="lt2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accent2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Lotus Balancing &amp; …</a:t>
                      </a:r>
                      <a:endParaRPr sz="600">
                        <a:highlight>
                          <a:schemeClr val="accent2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accent6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Clarins</a:t>
                      </a:r>
                      <a:endParaRPr sz="600">
                        <a:highlight>
                          <a:schemeClr val="accent6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accent4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65</a:t>
                      </a:r>
                      <a:endParaRPr sz="600">
                        <a:highlight>
                          <a:schemeClr val="accent4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8" name="Google Shape;318;p19"/>
          <p:cNvGraphicFramePr/>
          <p:nvPr/>
        </p:nvGraphicFramePr>
        <p:xfrm>
          <a:off x="-12" y="2591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</a:tblGrid>
              <a:tr h="381000">
                <a:tc gridSpan="19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1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product_info</a:t>
                      </a:r>
                      <a:endParaRPr b="1" i="1"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product_id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product_name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brand_id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brand_name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loves_count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rating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reviews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size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variation_type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variation_value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variation_desc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ingredients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price_usd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value_price_usd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sale_price_usd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limited_edition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new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online_only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lt2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P379064</a:t>
                      </a:r>
                      <a:endParaRPr sz="600">
                        <a:highlight>
                          <a:schemeClr val="lt2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accent2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Lotus Balancing &amp; …</a:t>
                      </a:r>
                      <a:endParaRPr sz="600">
                        <a:highlight>
                          <a:schemeClr val="accent2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2082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accent6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Clarins</a:t>
                      </a:r>
                      <a:endParaRPr sz="600">
                        <a:highlight>
                          <a:schemeClr val="accent6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8723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/>
                        <a:t>4.4029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139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 oz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Size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 oz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500">
                          <a:latin typeface="Nunito"/>
                          <a:ea typeface="Nunito"/>
                          <a:cs typeface="Nunito"/>
                          <a:sym typeface="Nunito"/>
                        </a:rPr>
                        <a:t>['(Hazel) Seed Oil, Flower Oil…]</a:t>
                      </a:r>
                      <a:endParaRPr sz="5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highlight>
                            <a:schemeClr val="accent4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65</a:t>
                      </a:r>
                      <a:endParaRPr sz="600">
                        <a:highlight>
                          <a:schemeClr val="accent4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9" name="Google Shape;319;p19"/>
          <p:cNvGraphicFramePr/>
          <p:nvPr/>
        </p:nvGraphicFramePr>
        <p:xfrm>
          <a:off x="-12" y="392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  <a:gridCol w="481275"/>
              </a:tblGrid>
              <a:tr h="381000">
                <a:tc gridSpan="10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1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product_info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out_of_stock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sephora_exclusive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highlights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primary_category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secondary_category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tertiary_category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child_count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child_max_price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600">
                          <a:solidFill>
                            <a:srgbClr val="202124"/>
                          </a:solidFill>
                          <a:highlight>
                            <a:srgbClr val="FFFFFF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child_min_price</a:t>
                      </a:r>
                      <a:r>
                        <a:rPr i="1"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i="1"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Skincare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Moisturizers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Face Oils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 txBox="1"/>
          <p:nvPr>
            <p:ph type="title"/>
          </p:nvPr>
        </p:nvSpPr>
        <p:spPr>
          <a:xfrm>
            <a:off x="1303800" y="598575"/>
            <a:ext cx="34836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Predlog logičke šeme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baze podataka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25" name="Google Shape;325;p20"/>
          <p:cNvGraphicFramePr/>
          <p:nvPr/>
        </p:nvGraphicFramePr>
        <p:xfrm>
          <a:off x="50518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914925"/>
                <a:gridCol w="914925"/>
              </a:tblGrid>
              <a:tr h="210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1. </a:t>
                      </a:r>
                      <a:r>
                        <a:rPr b="1"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kolekcija: product_info</a:t>
                      </a:r>
                      <a:endParaRPr b="1"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Polje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 podataka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product_id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product_name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brand_id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brand_name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loves_count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rating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reviews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size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variation_type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variation_value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variation_desc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price_usd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ingredients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Array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value_price_usd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6" name="Google Shape;326;p20"/>
          <p:cNvGraphicFramePr/>
          <p:nvPr/>
        </p:nvGraphicFramePr>
        <p:xfrm>
          <a:off x="691675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1113625"/>
                <a:gridCol w="1113625"/>
              </a:tblGrid>
              <a:tr h="2102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1. kolekcija: product_info</a:t>
                      </a:r>
                      <a:endParaRPr b="1"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Polje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 podataka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sale_price_usd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limited_edition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Boolean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new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Boolean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online_only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Boolean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out_of_stock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Boolean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sephora_exclusive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Boolean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highlights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Array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primary_category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secondary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_category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terti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ary_category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child_count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child_max_price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21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child_min_price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7" name="Google Shape;327;p20"/>
          <p:cNvGraphicFramePr/>
          <p:nvPr/>
        </p:nvGraphicFramePr>
        <p:xfrm>
          <a:off x="169575" y="148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1211425"/>
                <a:gridCol w="1211425"/>
              </a:tblGrid>
              <a:tr h="861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2. kolekcija: reviews</a:t>
                      </a:r>
                      <a:endParaRPr b="1"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Polje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 podataka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#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author_id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rating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is_recommended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Boolean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helpfulness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total_feedback_count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total_neg_feedback_count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total_pos_feedback_count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Number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8" name="Google Shape;328;p20"/>
          <p:cNvGraphicFramePr/>
          <p:nvPr/>
        </p:nvGraphicFramePr>
        <p:xfrm>
          <a:off x="2639600" y="148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{D816DBE9-DF35-4D46-92EB-9546D35C91DD}</a:tableStyleId>
              </a:tblPr>
              <a:tblGrid>
                <a:gridCol w="1049375"/>
                <a:gridCol w="1049375"/>
              </a:tblGrid>
              <a:tr h="8612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2. kolekcija: reviews</a:t>
                      </a:r>
                      <a:endParaRPr b="1"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Polje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Tip podataka</a:t>
                      </a:r>
                      <a:endParaRPr i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submission_time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review_text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review_title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skin_tone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eye_color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skin_type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hair_color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8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solidFill>
                            <a:srgbClr val="202124"/>
                          </a:solidFill>
                          <a:highlight>
                            <a:schemeClr val="lt1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product_id</a:t>
                      </a: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Upiti - analitičar kozmetičke industrije i trendova</a:t>
            </a:r>
            <a:endParaRPr/>
          </a:p>
        </p:txBody>
      </p:sp>
      <p:sp>
        <p:nvSpPr>
          <p:cNvPr id="334" name="Google Shape;334;p21"/>
          <p:cNvSpPr txBox="1"/>
          <p:nvPr>
            <p:ph idx="1" type="body"/>
          </p:nvPr>
        </p:nvSpPr>
        <p:spPr>
          <a:xfrm>
            <a:off x="1303800" y="1597875"/>
            <a:ext cx="7164600" cy="33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sr" sz="1200"/>
              <a:t>Upit 1: Analiza hajpa i tagova - Da li proizvodi koji imaju tag 'Vegan' ili ‘</a:t>
            </a:r>
            <a:r>
              <a:rPr lang="sr" sz="1200">
                <a:highlight>
                  <a:srgbClr val="FFFFFF"/>
                </a:highlight>
              </a:rPr>
              <a:t>Clean + Planet Positive</a:t>
            </a:r>
            <a:r>
              <a:rPr lang="sr" sz="1200"/>
              <a:t>’ u polju highlights imaju značajno višu prosečnu cenu i veći broj lajkova (loves_count) u odnosu na standardne proizvode?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2: Detekcija "Štetnih" sastojaka kroz kategorije - U kojim se sekundarnim kategorijama proizvoda najčešće pojavljuju neželjeni sastojci (npr. 'Alcohol', 'Paraben', 'Sulfate').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3: Strategija popusta - Koji brendovi najagresivnije koriste popuste (najveća razlika između price_usd i sale_price_usd) i da li su ti popusti rezervisani samo za </a:t>
            </a:r>
            <a:r>
              <a:rPr i="1" lang="sr" sz="1200"/>
              <a:t>Limited Edition</a:t>
            </a:r>
            <a:r>
              <a:rPr lang="sr" sz="1200"/>
              <a:t> proizvode?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4: Detekcija zasićenosti tržišta po varijacijama - Koji tipovi varijacija (variation_type npr. "Size", "Color/Tone") dominiraju u određenim sekundarnim kategorijama i koji brendovi kreiraju najkompleksnije proizvode (imaju najveći child_count, odnosno broj pod-varijacija)?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5: Hijerarhijska analiza cena - Kako se kreću cene (raspon min-max) kada se spustimo sa primary_category na secondary_category, pa na tertiary_category? (Pomaže u mapiranju najskupljih niša).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1303800" y="598575"/>
            <a:ext cx="7212600" cy="6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Predlozi upita - p</a:t>
            </a:r>
            <a:r>
              <a:rPr lang="sr"/>
              <a:t>ersonalization data scientist</a:t>
            </a:r>
            <a:endParaRPr/>
          </a:p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1303800" y="1251300"/>
            <a:ext cx="7030500" cy="38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sr" sz="1200"/>
              <a:t>Upit 6: Proizvodi sa laznim marketingom - Pronalaženje proizvoda koji imaju ogroman hajp na sajtu (loves_count u vrhu), ali su u recenzijama dobili katastrofalne ocene od stvarnih kupaca (prosek ocena u recenzijama manji ili jednak 3.5). Može i obrnuto, mali broj lajkova, ali visoke recenzije.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7: Najbolje kreme za specifičan tip kože - Data Scientist pravi algoritam za preporuke. Koji brendovi imaju najbolji rejting isključivo među korisnicima koji imaju skin_type: 'Oily' i skin_tone: 'Light'?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8: Kritičari od poverenja - Želimo da izolujemo autore čije recenzije zajednica smatra izuzetno korisnim (helpfulness), a koji pišu detaljne opise (duže od 300 karaktera) i ne daju olako ocene 5.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sr" sz="1200"/>
              <a:t>Upit 9: Detekcija anomalija preporuka - Tražimo recenzije gde je korisnik dao loše ocene, 1 ili 2, a polje is_recommended je označeno sa 1 (preporučuje proizvod). Želimo da vidimo koji proizvodi imaju najviše ovakvih zbunjujućih recenzija. </a:t>
            </a:r>
            <a:endParaRPr sz="12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sr" sz="1200"/>
              <a:t>Upit 10: Collaborative Filtering - Želimo da grupišemo recenzije prema potpunom profilu autora (skin_type + skin_tone + eye_color) i da izračunamo koji proizvodi imaju stopu preporuka (is_recommended) preko 90% unutar tog specifičnog mikrotipa. 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